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20" r:id="rId3"/>
    <p:sldId id="2502" r:id="rId4"/>
    <p:sldId id="2531" r:id="rId5"/>
    <p:sldId id="2543" r:id="rId6"/>
    <p:sldId id="2544" r:id="rId7"/>
    <p:sldId id="2537" r:id="rId8"/>
    <p:sldId id="2546" r:id="rId9"/>
    <p:sldId id="2535" r:id="rId10"/>
    <p:sldId id="2547" r:id="rId11"/>
    <p:sldId id="2548" r:id="rId12"/>
    <p:sldId id="2549" r:id="rId13"/>
    <p:sldId id="2550" r:id="rId14"/>
    <p:sldId id="2551" r:id="rId15"/>
    <p:sldId id="2536" r:id="rId16"/>
    <p:sldId id="2539" r:id="rId17"/>
    <p:sldId id="2552" r:id="rId18"/>
    <p:sldId id="2541" r:id="rId19"/>
    <p:sldId id="2540" r:id="rId20"/>
    <p:sldId id="2532" r:id="rId21"/>
    <p:sldId id="2533" r:id="rId22"/>
    <p:sldId id="2534" r:id="rId23"/>
    <p:sldId id="2542" r:id="rId24"/>
    <p:sldId id="2529" r:id="rId25"/>
    <p:sldId id="2525" r:id="rId26"/>
    <p:sldId id="251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14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E575F3-5012-4484-A2CD-8AFFEED34810}" type="doc">
      <dgm:prSet loTypeId="urn:microsoft.com/office/officeart/2005/8/layout/default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39AC772-D556-47B9-A6B7-43FB2AA4BB21}">
      <dgm:prSet/>
      <dgm:spPr/>
      <dgm:t>
        <a:bodyPr/>
        <a:lstStyle/>
        <a:p>
          <a:pPr>
            <a:defRPr cap="all"/>
          </a:pPr>
          <a:r>
            <a:rPr lang="en-US"/>
            <a:t>Smoking data</a:t>
          </a:r>
        </a:p>
      </dgm:t>
    </dgm:pt>
    <dgm:pt modelId="{ECA6A430-B925-4441-BE7E-B036709EA728}" type="parTrans" cxnId="{D024D081-6D7A-4AC4-B171-408247D18F7F}">
      <dgm:prSet/>
      <dgm:spPr/>
      <dgm:t>
        <a:bodyPr/>
        <a:lstStyle/>
        <a:p>
          <a:endParaRPr lang="en-US"/>
        </a:p>
      </dgm:t>
    </dgm:pt>
    <dgm:pt modelId="{8E1EC0CC-E9AD-4C86-8FD4-E2DFEF5329FC}" type="sibTrans" cxnId="{D024D081-6D7A-4AC4-B171-408247D18F7F}">
      <dgm:prSet/>
      <dgm:spPr/>
      <dgm:t>
        <a:bodyPr/>
        <a:lstStyle/>
        <a:p>
          <a:endParaRPr lang="en-US"/>
        </a:p>
      </dgm:t>
    </dgm:pt>
    <dgm:pt modelId="{8178A0BF-DDAD-4374-B05B-03C51CA6BD42}">
      <dgm:prSet/>
      <dgm:spPr/>
      <dgm:t>
        <a:bodyPr/>
        <a:lstStyle/>
        <a:p>
          <a:pPr>
            <a:defRPr cap="all"/>
          </a:pPr>
          <a:r>
            <a:rPr lang="en-US"/>
            <a:t>Our solution</a:t>
          </a:r>
        </a:p>
      </dgm:t>
    </dgm:pt>
    <dgm:pt modelId="{5EC7B0EB-6DAB-4503-B9A3-C8DF796CFEBE}" type="parTrans" cxnId="{C189DB21-ED53-4E9B-A583-D4934B0A749C}">
      <dgm:prSet/>
      <dgm:spPr/>
      <dgm:t>
        <a:bodyPr/>
        <a:lstStyle/>
        <a:p>
          <a:endParaRPr lang="en-US"/>
        </a:p>
      </dgm:t>
    </dgm:pt>
    <dgm:pt modelId="{995E465B-6E8E-4A13-9E60-634138D3635B}" type="sibTrans" cxnId="{C189DB21-ED53-4E9B-A583-D4934B0A749C}">
      <dgm:prSet/>
      <dgm:spPr/>
      <dgm:t>
        <a:bodyPr/>
        <a:lstStyle/>
        <a:p>
          <a:endParaRPr lang="en-US"/>
        </a:p>
      </dgm:t>
    </dgm:pt>
    <dgm:pt modelId="{F31CB5E7-59FD-407B-B8E5-1BBACF2B3FEB}" type="pres">
      <dgm:prSet presAssocID="{14E575F3-5012-4484-A2CD-8AFFEED34810}" presName="diagram" presStyleCnt="0">
        <dgm:presLayoutVars>
          <dgm:dir/>
          <dgm:resizeHandles val="exact"/>
        </dgm:presLayoutVars>
      </dgm:prSet>
      <dgm:spPr/>
    </dgm:pt>
    <dgm:pt modelId="{A2D7EA3E-D907-493E-8ECB-B39878FCE8B5}" type="pres">
      <dgm:prSet presAssocID="{439AC772-D556-47B9-A6B7-43FB2AA4BB21}" presName="node" presStyleLbl="node1" presStyleIdx="0" presStyleCnt="2">
        <dgm:presLayoutVars>
          <dgm:bulletEnabled val="1"/>
        </dgm:presLayoutVars>
      </dgm:prSet>
      <dgm:spPr/>
    </dgm:pt>
    <dgm:pt modelId="{A486586D-12B2-42D6-8BB4-9E8E2F37664A}" type="pres">
      <dgm:prSet presAssocID="{8E1EC0CC-E9AD-4C86-8FD4-E2DFEF5329FC}" presName="sibTrans" presStyleCnt="0"/>
      <dgm:spPr/>
    </dgm:pt>
    <dgm:pt modelId="{97D7E995-3901-4C6A-949B-F7A7B39EA8D3}" type="pres">
      <dgm:prSet presAssocID="{8178A0BF-DDAD-4374-B05B-03C51CA6BD42}" presName="node" presStyleLbl="node1" presStyleIdx="1" presStyleCnt="2">
        <dgm:presLayoutVars>
          <dgm:bulletEnabled val="1"/>
        </dgm:presLayoutVars>
      </dgm:prSet>
      <dgm:spPr/>
    </dgm:pt>
  </dgm:ptLst>
  <dgm:cxnLst>
    <dgm:cxn modelId="{F0334F04-E636-4660-9F8C-7936E7170A72}" type="presOf" srcId="{439AC772-D556-47B9-A6B7-43FB2AA4BB21}" destId="{A2D7EA3E-D907-493E-8ECB-B39878FCE8B5}" srcOrd="0" destOrd="0" presId="urn:microsoft.com/office/officeart/2005/8/layout/default"/>
    <dgm:cxn modelId="{C189DB21-ED53-4E9B-A583-D4934B0A749C}" srcId="{14E575F3-5012-4484-A2CD-8AFFEED34810}" destId="{8178A0BF-DDAD-4374-B05B-03C51CA6BD42}" srcOrd="1" destOrd="0" parTransId="{5EC7B0EB-6DAB-4503-B9A3-C8DF796CFEBE}" sibTransId="{995E465B-6E8E-4A13-9E60-634138D3635B}"/>
    <dgm:cxn modelId="{8CE29B78-8E75-496C-957A-6BB75FD5E08C}" type="presOf" srcId="{14E575F3-5012-4484-A2CD-8AFFEED34810}" destId="{F31CB5E7-59FD-407B-B8E5-1BBACF2B3FEB}" srcOrd="0" destOrd="0" presId="urn:microsoft.com/office/officeart/2005/8/layout/default"/>
    <dgm:cxn modelId="{D024D081-6D7A-4AC4-B171-408247D18F7F}" srcId="{14E575F3-5012-4484-A2CD-8AFFEED34810}" destId="{439AC772-D556-47B9-A6B7-43FB2AA4BB21}" srcOrd="0" destOrd="0" parTransId="{ECA6A430-B925-4441-BE7E-B036709EA728}" sibTransId="{8E1EC0CC-E9AD-4C86-8FD4-E2DFEF5329FC}"/>
    <dgm:cxn modelId="{919CBD89-F251-4FA8-8E37-FEFB182540FB}" type="presOf" srcId="{8178A0BF-DDAD-4374-B05B-03C51CA6BD42}" destId="{97D7E995-3901-4C6A-949B-F7A7B39EA8D3}" srcOrd="0" destOrd="0" presId="urn:microsoft.com/office/officeart/2005/8/layout/default"/>
    <dgm:cxn modelId="{E21D5C3A-783E-4341-8EED-D1DE773BFCC3}" type="presParOf" srcId="{F31CB5E7-59FD-407B-B8E5-1BBACF2B3FEB}" destId="{A2D7EA3E-D907-493E-8ECB-B39878FCE8B5}" srcOrd="0" destOrd="0" presId="urn:microsoft.com/office/officeart/2005/8/layout/default"/>
    <dgm:cxn modelId="{29B52B4D-F6D7-4ED7-A6FF-2EF39B4C2B2F}" type="presParOf" srcId="{F31CB5E7-59FD-407B-B8E5-1BBACF2B3FEB}" destId="{A486586D-12B2-42D6-8BB4-9E8E2F37664A}" srcOrd="1" destOrd="0" presId="urn:microsoft.com/office/officeart/2005/8/layout/default"/>
    <dgm:cxn modelId="{A44252A7-7E38-4C09-AB66-4B6392ECEF81}" type="presParOf" srcId="{F31CB5E7-59FD-407B-B8E5-1BBACF2B3FEB}" destId="{97D7E995-3901-4C6A-949B-F7A7B39EA8D3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8289E6-B88D-4690-8268-3D71BE75536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463D71C-59F6-46AD-9464-1039D0DFE779}">
      <dgm:prSet/>
      <dgm:spPr/>
      <dgm:t>
        <a:bodyPr/>
        <a:lstStyle/>
        <a:p>
          <a:r>
            <a:rPr lang="en-US" dirty="0"/>
            <a:t>Application to help quit smoking</a:t>
          </a:r>
        </a:p>
      </dgm:t>
    </dgm:pt>
    <dgm:pt modelId="{6991A145-C12C-42E0-B60C-CCE1F8D884CF}" type="parTrans" cxnId="{8FD7CC6D-8504-4823-9A3A-DF86CF62F61F}">
      <dgm:prSet/>
      <dgm:spPr/>
      <dgm:t>
        <a:bodyPr/>
        <a:lstStyle/>
        <a:p>
          <a:endParaRPr lang="en-US"/>
        </a:p>
      </dgm:t>
    </dgm:pt>
    <dgm:pt modelId="{9687B47A-FC44-47A1-BF69-7610D0976CB5}" type="sibTrans" cxnId="{8FD7CC6D-8504-4823-9A3A-DF86CF62F61F}">
      <dgm:prSet/>
      <dgm:spPr/>
      <dgm:t>
        <a:bodyPr/>
        <a:lstStyle/>
        <a:p>
          <a:endParaRPr lang="en-US"/>
        </a:p>
      </dgm:t>
    </dgm:pt>
    <dgm:pt modelId="{5FCC9BC8-C7AD-4DDB-B88B-0B89C309A9A2}">
      <dgm:prSet/>
      <dgm:spPr/>
      <dgm:t>
        <a:bodyPr/>
        <a:lstStyle/>
        <a:p>
          <a:r>
            <a:rPr lang="en-US" dirty="0"/>
            <a:t>Set daily reminders &amp; goal</a:t>
          </a:r>
        </a:p>
      </dgm:t>
    </dgm:pt>
    <dgm:pt modelId="{3B7239AD-95EE-4392-BA19-F5078C15F559}" type="parTrans" cxnId="{9F0BE186-24D1-4DC6-B9EA-C873E790E3B6}">
      <dgm:prSet/>
      <dgm:spPr/>
      <dgm:t>
        <a:bodyPr/>
        <a:lstStyle/>
        <a:p>
          <a:endParaRPr lang="en-US"/>
        </a:p>
      </dgm:t>
    </dgm:pt>
    <dgm:pt modelId="{8CBD4571-F89C-4310-B622-63206A05FA22}" type="sibTrans" cxnId="{9F0BE186-24D1-4DC6-B9EA-C873E790E3B6}">
      <dgm:prSet/>
      <dgm:spPr/>
      <dgm:t>
        <a:bodyPr/>
        <a:lstStyle/>
        <a:p>
          <a:endParaRPr lang="en-US"/>
        </a:p>
      </dgm:t>
    </dgm:pt>
    <dgm:pt modelId="{6989831A-095D-4E1D-9257-4E36641CF3AC}">
      <dgm:prSet/>
      <dgm:spPr/>
      <dgm:t>
        <a:bodyPr/>
        <a:lstStyle/>
        <a:p>
          <a:r>
            <a:rPr lang="en-US" dirty="0"/>
            <a:t>Daily Exercises</a:t>
          </a:r>
        </a:p>
      </dgm:t>
    </dgm:pt>
    <dgm:pt modelId="{49663FB4-EC2C-4BE4-AF32-17B229E4D724}" type="parTrans" cxnId="{1BA08119-00FE-4AF0-A2DA-8F6A64DF0563}">
      <dgm:prSet/>
      <dgm:spPr/>
      <dgm:t>
        <a:bodyPr/>
        <a:lstStyle/>
        <a:p>
          <a:endParaRPr lang="en-US"/>
        </a:p>
      </dgm:t>
    </dgm:pt>
    <dgm:pt modelId="{99AED3F2-80CD-4396-A9EE-A26E5553245D}" type="sibTrans" cxnId="{1BA08119-00FE-4AF0-A2DA-8F6A64DF0563}">
      <dgm:prSet/>
      <dgm:spPr/>
      <dgm:t>
        <a:bodyPr/>
        <a:lstStyle/>
        <a:p>
          <a:endParaRPr lang="en-US"/>
        </a:p>
      </dgm:t>
    </dgm:pt>
    <dgm:pt modelId="{83F64D6B-8E0F-4053-A295-B6181F38BAF8}">
      <dgm:prSet/>
      <dgm:spPr/>
      <dgm:t>
        <a:bodyPr/>
        <a:lstStyle/>
        <a:p>
          <a:r>
            <a:rPr lang="en-US" dirty="0"/>
            <a:t>Monthly Reports</a:t>
          </a:r>
        </a:p>
      </dgm:t>
    </dgm:pt>
    <dgm:pt modelId="{1EC6F362-D2E9-430A-BFE0-F4661D2562DE}" type="parTrans" cxnId="{8CE1F043-490E-4799-9953-A63A799FC867}">
      <dgm:prSet/>
      <dgm:spPr/>
      <dgm:t>
        <a:bodyPr/>
        <a:lstStyle/>
        <a:p>
          <a:endParaRPr lang="en-US"/>
        </a:p>
      </dgm:t>
    </dgm:pt>
    <dgm:pt modelId="{1295D356-929B-4B32-AA43-6EC03E41C48F}" type="sibTrans" cxnId="{8CE1F043-490E-4799-9953-A63A799FC867}">
      <dgm:prSet/>
      <dgm:spPr/>
      <dgm:t>
        <a:bodyPr/>
        <a:lstStyle/>
        <a:p>
          <a:endParaRPr lang="en-US"/>
        </a:p>
      </dgm:t>
    </dgm:pt>
    <dgm:pt modelId="{D979F8A0-CC83-4863-A41B-313EC1461810}">
      <dgm:prSet/>
      <dgm:spPr/>
      <dgm:t>
        <a:bodyPr/>
        <a:lstStyle/>
        <a:p>
          <a:r>
            <a:rPr lang="en-US" dirty="0"/>
            <a:t>Subscription Based</a:t>
          </a:r>
        </a:p>
      </dgm:t>
    </dgm:pt>
    <dgm:pt modelId="{857BBE3A-BE8B-4FDC-BEC1-F6BEDFB4B07A}" type="parTrans" cxnId="{A3C4E00D-CE20-47DC-883E-726C34458DE8}">
      <dgm:prSet/>
      <dgm:spPr/>
      <dgm:t>
        <a:bodyPr/>
        <a:lstStyle/>
        <a:p>
          <a:endParaRPr lang="en-US"/>
        </a:p>
      </dgm:t>
    </dgm:pt>
    <dgm:pt modelId="{9398A2A7-FF79-4572-8139-31B6BC962310}" type="sibTrans" cxnId="{A3C4E00D-CE20-47DC-883E-726C34458DE8}">
      <dgm:prSet/>
      <dgm:spPr/>
      <dgm:t>
        <a:bodyPr/>
        <a:lstStyle/>
        <a:p>
          <a:endParaRPr lang="en-US"/>
        </a:p>
      </dgm:t>
    </dgm:pt>
    <dgm:pt modelId="{608A7DAF-60BE-4D37-811A-0F29E6211DCF}" type="pres">
      <dgm:prSet presAssocID="{318289E6-B88D-4690-8268-3D71BE755360}" presName="linear" presStyleCnt="0">
        <dgm:presLayoutVars>
          <dgm:animLvl val="lvl"/>
          <dgm:resizeHandles val="exact"/>
        </dgm:presLayoutVars>
      </dgm:prSet>
      <dgm:spPr/>
    </dgm:pt>
    <dgm:pt modelId="{74D35713-5844-4794-AB8C-B9150E3B3311}" type="pres">
      <dgm:prSet presAssocID="{A463D71C-59F6-46AD-9464-1039D0DFE77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B91E14C-9D7A-4DA3-B762-B4AACCADCBE0}" type="pres">
      <dgm:prSet presAssocID="{9687B47A-FC44-47A1-BF69-7610D0976CB5}" presName="spacer" presStyleCnt="0"/>
      <dgm:spPr/>
    </dgm:pt>
    <dgm:pt modelId="{DCE40EC4-CED3-4BDF-93A2-3D8CB090BDA6}" type="pres">
      <dgm:prSet presAssocID="{5FCC9BC8-C7AD-4DDB-B88B-0B89C309A9A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37AB05E-C158-43F9-AA61-C325790F4FF5}" type="pres">
      <dgm:prSet presAssocID="{8CBD4571-F89C-4310-B622-63206A05FA22}" presName="spacer" presStyleCnt="0"/>
      <dgm:spPr/>
    </dgm:pt>
    <dgm:pt modelId="{01C20582-E6AA-4381-A5AF-0080199E6B0C}" type="pres">
      <dgm:prSet presAssocID="{6989831A-095D-4E1D-9257-4E36641CF3A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B579ABF-095F-4812-AE5F-202DF3865962}" type="pres">
      <dgm:prSet presAssocID="{99AED3F2-80CD-4396-A9EE-A26E5553245D}" presName="spacer" presStyleCnt="0"/>
      <dgm:spPr/>
    </dgm:pt>
    <dgm:pt modelId="{4C277A86-2238-4D60-906B-C3C8E0F04B87}" type="pres">
      <dgm:prSet presAssocID="{83F64D6B-8E0F-4053-A295-B6181F38BAF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D73C185-822A-4C38-82DE-9E4965D4CD47}" type="pres">
      <dgm:prSet presAssocID="{1295D356-929B-4B32-AA43-6EC03E41C48F}" presName="spacer" presStyleCnt="0"/>
      <dgm:spPr/>
    </dgm:pt>
    <dgm:pt modelId="{3B30964F-9388-43C3-BABE-4E3B23FA7E33}" type="pres">
      <dgm:prSet presAssocID="{D979F8A0-CC83-4863-A41B-313EC146181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3C4E00D-CE20-47DC-883E-726C34458DE8}" srcId="{318289E6-B88D-4690-8268-3D71BE755360}" destId="{D979F8A0-CC83-4863-A41B-313EC1461810}" srcOrd="4" destOrd="0" parTransId="{857BBE3A-BE8B-4FDC-BEC1-F6BEDFB4B07A}" sibTransId="{9398A2A7-FF79-4572-8139-31B6BC962310}"/>
    <dgm:cxn modelId="{D8601918-2C2A-4CF8-A654-A4368CBF5554}" type="presOf" srcId="{D979F8A0-CC83-4863-A41B-313EC1461810}" destId="{3B30964F-9388-43C3-BABE-4E3B23FA7E33}" srcOrd="0" destOrd="0" presId="urn:microsoft.com/office/officeart/2005/8/layout/vList2"/>
    <dgm:cxn modelId="{1BA08119-00FE-4AF0-A2DA-8F6A64DF0563}" srcId="{318289E6-B88D-4690-8268-3D71BE755360}" destId="{6989831A-095D-4E1D-9257-4E36641CF3AC}" srcOrd="2" destOrd="0" parTransId="{49663FB4-EC2C-4BE4-AF32-17B229E4D724}" sibTransId="{99AED3F2-80CD-4396-A9EE-A26E5553245D}"/>
    <dgm:cxn modelId="{E7E4661E-0D91-4E9A-AB1F-C33F0D09A280}" type="presOf" srcId="{83F64D6B-8E0F-4053-A295-B6181F38BAF8}" destId="{4C277A86-2238-4D60-906B-C3C8E0F04B87}" srcOrd="0" destOrd="0" presId="urn:microsoft.com/office/officeart/2005/8/layout/vList2"/>
    <dgm:cxn modelId="{8CE1F043-490E-4799-9953-A63A799FC867}" srcId="{318289E6-B88D-4690-8268-3D71BE755360}" destId="{83F64D6B-8E0F-4053-A295-B6181F38BAF8}" srcOrd="3" destOrd="0" parTransId="{1EC6F362-D2E9-430A-BFE0-F4661D2562DE}" sibTransId="{1295D356-929B-4B32-AA43-6EC03E41C48F}"/>
    <dgm:cxn modelId="{56234E4C-89B1-46D0-86D9-A39C618B46BF}" type="presOf" srcId="{318289E6-B88D-4690-8268-3D71BE755360}" destId="{608A7DAF-60BE-4D37-811A-0F29E6211DCF}" srcOrd="0" destOrd="0" presId="urn:microsoft.com/office/officeart/2005/8/layout/vList2"/>
    <dgm:cxn modelId="{8FD7CC6D-8504-4823-9A3A-DF86CF62F61F}" srcId="{318289E6-B88D-4690-8268-3D71BE755360}" destId="{A463D71C-59F6-46AD-9464-1039D0DFE779}" srcOrd="0" destOrd="0" parTransId="{6991A145-C12C-42E0-B60C-CCE1F8D884CF}" sibTransId="{9687B47A-FC44-47A1-BF69-7610D0976CB5}"/>
    <dgm:cxn modelId="{97879D75-24CC-47D7-8490-C848C112DB97}" type="presOf" srcId="{5FCC9BC8-C7AD-4DDB-B88B-0B89C309A9A2}" destId="{DCE40EC4-CED3-4BDF-93A2-3D8CB090BDA6}" srcOrd="0" destOrd="0" presId="urn:microsoft.com/office/officeart/2005/8/layout/vList2"/>
    <dgm:cxn modelId="{9F0BE186-24D1-4DC6-B9EA-C873E790E3B6}" srcId="{318289E6-B88D-4690-8268-3D71BE755360}" destId="{5FCC9BC8-C7AD-4DDB-B88B-0B89C309A9A2}" srcOrd="1" destOrd="0" parTransId="{3B7239AD-95EE-4392-BA19-F5078C15F559}" sibTransId="{8CBD4571-F89C-4310-B622-63206A05FA22}"/>
    <dgm:cxn modelId="{ECD3058D-DC3E-48A2-BF39-AE1FF8915FDE}" type="presOf" srcId="{6989831A-095D-4E1D-9257-4E36641CF3AC}" destId="{01C20582-E6AA-4381-A5AF-0080199E6B0C}" srcOrd="0" destOrd="0" presId="urn:microsoft.com/office/officeart/2005/8/layout/vList2"/>
    <dgm:cxn modelId="{008B61D2-1613-4702-8EB3-0D6F26C4BFD1}" type="presOf" srcId="{A463D71C-59F6-46AD-9464-1039D0DFE779}" destId="{74D35713-5844-4794-AB8C-B9150E3B3311}" srcOrd="0" destOrd="0" presId="urn:microsoft.com/office/officeart/2005/8/layout/vList2"/>
    <dgm:cxn modelId="{F0AADB1A-0844-4D71-B531-A71E65982755}" type="presParOf" srcId="{608A7DAF-60BE-4D37-811A-0F29E6211DCF}" destId="{74D35713-5844-4794-AB8C-B9150E3B3311}" srcOrd="0" destOrd="0" presId="urn:microsoft.com/office/officeart/2005/8/layout/vList2"/>
    <dgm:cxn modelId="{24AB3071-7BFC-4413-AED7-5DD8021FDFC5}" type="presParOf" srcId="{608A7DAF-60BE-4D37-811A-0F29E6211DCF}" destId="{1B91E14C-9D7A-4DA3-B762-B4AACCADCBE0}" srcOrd="1" destOrd="0" presId="urn:microsoft.com/office/officeart/2005/8/layout/vList2"/>
    <dgm:cxn modelId="{02F05C0A-EDEB-4781-8884-C015467C672D}" type="presParOf" srcId="{608A7DAF-60BE-4D37-811A-0F29E6211DCF}" destId="{DCE40EC4-CED3-4BDF-93A2-3D8CB090BDA6}" srcOrd="2" destOrd="0" presId="urn:microsoft.com/office/officeart/2005/8/layout/vList2"/>
    <dgm:cxn modelId="{4AEEE6B9-4839-4407-8409-503A9E19E892}" type="presParOf" srcId="{608A7DAF-60BE-4D37-811A-0F29E6211DCF}" destId="{E37AB05E-C158-43F9-AA61-C325790F4FF5}" srcOrd="3" destOrd="0" presId="urn:microsoft.com/office/officeart/2005/8/layout/vList2"/>
    <dgm:cxn modelId="{0CBB1982-DE71-4C0A-B578-D6991D652085}" type="presParOf" srcId="{608A7DAF-60BE-4D37-811A-0F29E6211DCF}" destId="{01C20582-E6AA-4381-A5AF-0080199E6B0C}" srcOrd="4" destOrd="0" presId="urn:microsoft.com/office/officeart/2005/8/layout/vList2"/>
    <dgm:cxn modelId="{B14AAC71-0E99-4F0E-B94C-8B18CAE3A41E}" type="presParOf" srcId="{608A7DAF-60BE-4D37-811A-0F29E6211DCF}" destId="{CB579ABF-095F-4812-AE5F-202DF3865962}" srcOrd="5" destOrd="0" presId="urn:microsoft.com/office/officeart/2005/8/layout/vList2"/>
    <dgm:cxn modelId="{C75D884F-ED7D-48AF-8C64-B7F8A85B489B}" type="presParOf" srcId="{608A7DAF-60BE-4D37-811A-0F29E6211DCF}" destId="{4C277A86-2238-4D60-906B-C3C8E0F04B87}" srcOrd="6" destOrd="0" presId="urn:microsoft.com/office/officeart/2005/8/layout/vList2"/>
    <dgm:cxn modelId="{00D68A54-7E56-421E-9B98-3C478CB4D4C8}" type="presParOf" srcId="{608A7DAF-60BE-4D37-811A-0F29E6211DCF}" destId="{5D73C185-822A-4C38-82DE-9E4965D4CD47}" srcOrd="7" destOrd="0" presId="urn:microsoft.com/office/officeart/2005/8/layout/vList2"/>
    <dgm:cxn modelId="{D7C24593-6914-43A3-AA99-3AE955D907DC}" type="presParOf" srcId="{608A7DAF-60BE-4D37-811A-0F29E6211DCF}" destId="{3B30964F-9388-43C3-BABE-4E3B23FA7E3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7EA3E-D907-493E-8ECB-B39878FCE8B5}">
      <dsp:nvSpPr>
        <dsp:cNvPr id="0" name=""/>
        <dsp:cNvSpPr/>
      </dsp:nvSpPr>
      <dsp:spPr>
        <a:xfrm>
          <a:off x="1283" y="673807"/>
          <a:ext cx="5006206" cy="30037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6500" kern="1200"/>
            <a:t>Smoking data</a:t>
          </a:r>
        </a:p>
      </dsp:txBody>
      <dsp:txXfrm>
        <a:off x="1283" y="673807"/>
        <a:ext cx="5006206" cy="3003723"/>
      </dsp:txXfrm>
    </dsp:sp>
    <dsp:sp modelId="{97D7E995-3901-4C6A-949B-F7A7B39EA8D3}">
      <dsp:nvSpPr>
        <dsp:cNvPr id="0" name=""/>
        <dsp:cNvSpPr/>
      </dsp:nvSpPr>
      <dsp:spPr>
        <a:xfrm>
          <a:off x="5508110" y="673807"/>
          <a:ext cx="5006206" cy="300372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6500" kern="1200"/>
            <a:t>Our solution</a:t>
          </a:r>
        </a:p>
      </dsp:txBody>
      <dsp:txXfrm>
        <a:off x="5508110" y="673807"/>
        <a:ext cx="5006206" cy="30037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35713-5844-4794-AB8C-B9150E3B3311}">
      <dsp:nvSpPr>
        <dsp:cNvPr id="0" name=""/>
        <dsp:cNvSpPr/>
      </dsp:nvSpPr>
      <dsp:spPr>
        <a:xfrm>
          <a:off x="0" y="902519"/>
          <a:ext cx="6367912" cy="83947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Application to help quit smoking</a:t>
          </a:r>
        </a:p>
      </dsp:txBody>
      <dsp:txXfrm>
        <a:off x="40980" y="943499"/>
        <a:ext cx="6285952" cy="757514"/>
      </dsp:txXfrm>
    </dsp:sp>
    <dsp:sp modelId="{DCE40EC4-CED3-4BDF-93A2-3D8CB090BDA6}">
      <dsp:nvSpPr>
        <dsp:cNvPr id="0" name=""/>
        <dsp:cNvSpPr/>
      </dsp:nvSpPr>
      <dsp:spPr>
        <a:xfrm>
          <a:off x="0" y="1842794"/>
          <a:ext cx="6367912" cy="839474"/>
        </a:xfrm>
        <a:prstGeom prst="roundRect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Set daily reminders &amp; goal</a:t>
          </a:r>
        </a:p>
      </dsp:txBody>
      <dsp:txXfrm>
        <a:off x="40980" y="1883774"/>
        <a:ext cx="6285952" cy="757514"/>
      </dsp:txXfrm>
    </dsp:sp>
    <dsp:sp modelId="{01C20582-E6AA-4381-A5AF-0080199E6B0C}">
      <dsp:nvSpPr>
        <dsp:cNvPr id="0" name=""/>
        <dsp:cNvSpPr/>
      </dsp:nvSpPr>
      <dsp:spPr>
        <a:xfrm>
          <a:off x="0" y="2783069"/>
          <a:ext cx="6367912" cy="839474"/>
        </a:xfrm>
        <a:prstGeom prst="roundRect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Daily Exercises</a:t>
          </a:r>
        </a:p>
      </dsp:txBody>
      <dsp:txXfrm>
        <a:off x="40980" y="2824049"/>
        <a:ext cx="6285952" cy="757514"/>
      </dsp:txXfrm>
    </dsp:sp>
    <dsp:sp modelId="{4C277A86-2238-4D60-906B-C3C8E0F04B87}">
      <dsp:nvSpPr>
        <dsp:cNvPr id="0" name=""/>
        <dsp:cNvSpPr/>
      </dsp:nvSpPr>
      <dsp:spPr>
        <a:xfrm>
          <a:off x="0" y="3723344"/>
          <a:ext cx="6367912" cy="839474"/>
        </a:xfrm>
        <a:prstGeom prst="roundRect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Monthly Reports</a:t>
          </a:r>
        </a:p>
      </dsp:txBody>
      <dsp:txXfrm>
        <a:off x="40980" y="3764324"/>
        <a:ext cx="6285952" cy="757514"/>
      </dsp:txXfrm>
    </dsp:sp>
    <dsp:sp modelId="{3B30964F-9388-43C3-BABE-4E3B23FA7E33}">
      <dsp:nvSpPr>
        <dsp:cNvPr id="0" name=""/>
        <dsp:cNvSpPr/>
      </dsp:nvSpPr>
      <dsp:spPr>
        <a:xfrm>
          <a:off x="0" y="4663619"/>
          <a:ext cx="6367912" cy="839474"/>
        </a:xfrm>
        <a:prstGeom prst="round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Subscription Based</a:t>
          </a:r>
        </a:p>
      </dsp:txBody>
      <dsp:txXfrm>
        <a:off x="40980" y="4704599"/>
        <a:ext cx="6285952" cy="7575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F9794-17B0-4392-9DC8-238DA53E8A44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01001-6F15-46E4-917A-5C31A027C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73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A01001-6F15-46E4-917A-5C31A027CE8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534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84BC-F94B-477D-8643-4A010619E9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15397-A853-4353-A9C7-820C02E50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4B0BA-1E25-4719-A392-4A146B785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3837C-AF7C-480E-AFAE-47A3C38D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DBCA-DDF5-4E95-851C-177E8CFD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3874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F85E1-4D22-49A5-97C8-1268B26B4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E3E55-B046-4250-8F8C-1CDB23C28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1B43-6B1C-4136-A76B-724E30753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2278A-948D-4773-BE27-B27341B1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43D35-E648-4A2E-A88F-B0158E77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29421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8E253-A1D4-4D24-B169-8718ACEE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A6225-B3D4-493D-96FB-45B4BEB36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14313-B9A5-44E9-B463-1216BE8C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7DB02-A47E-401F-863D-104E7F64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5B26F-B588-46AD-912E-0E5981044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42226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3874A-09EE-4942-A51B-E150DA8D4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D7854-73A3-4D2B-A5F3-4B3843FC4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91BA6-6331-4B5D-A3C0-741A29D80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964A33-D292-4CC9-ACA5-EEF0BD91E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8AB1C-086C-40B9-987A-1A8318A2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33966-65FE-4123-BE8E-86B29F90B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035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689C-C171-476F-B34D-D060EB44D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BA4D4-4E5B-4B8D-AD87-FED285444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4AA2C-87AC-48B9-A0A2-773F8C306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41DB3-4C2E-4506-BAC1-B2238221C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9E3CA-C683-499C-B509-A7B5EC927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E0461C-1098-4826-9DCF-A1D25E75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641CE5-DC54-459E-89BE-B564E3751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8B1B43-FA33-42F0-AEB7-2163510E8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2555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3D381-1F52-435A-94B6-DC980A21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D2E91B-377E-4E86-9C03-8DF786E2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30847-FE0F-4C60-9D6B-EB8558B4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F11F3-8C3B-4939-9886-BEF8B3F16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7622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0089C-4F55-4197-A195-CD9115E13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978D3-1F3E-42F6-B8C1-9C1701C0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B6447A-27CB-4922-BF67-59B6F2D0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3089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02504-E98E-4921-BFF0-D2ACDEF5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60448-E812-46FF-843E-FD7E038E5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36AB9-34C2-4952-9671-D050DDAAA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6D54D-6FA6-4093-9AE1-79863F5A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B027A-CCCF-4982-B080-B6103A30E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294EC-E472-4E1A-AAB2-62FFAC7C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9334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F5BB9-81D6-439F-8169-E5CC78E29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6A1B63-8903-424B-8D54-EB4D845027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22FC0A-D7B5-41B0-ABCE-B057378E5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02341-FAF4-4678-8925-F6785538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F1231-BA1A-417F-A8EB-89A2C6362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C40A7-2A88-4686-BBA3-511C3964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57440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A4ACB-D4DA-4B0D-94D9-937317CCE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9678C1-E616-46B5-9E95-139DDA7DF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75E89-2796-4755-A859-32E300B2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D8914-80E9-49AD-A5B2-74BC49FF6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FF1AA-F38A-4C9C-B4F3-EFEF30D1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95651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1F2BA-FDB3-4EC7-ADD0-146F9A82F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0D478-44B5-4B0F-A703-711B20D46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EA3DA-4B6E-4477-9384-AD0692E7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66D41-0485-4195-AD81-3FB4DC03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365DC-78C6-4200-9C1B-549A4364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2571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11CCE-853B-41A6-A3E3-8DB68DF6D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4929E-5EDF-4FCD-B98B-FFCA9229F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E9682-888B-4D67-8823-78512479F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4C7CC-17F2-448F-B504-2A1244E22B10}" type="datetimeFigureOut">
              <a:rPr lang="en-US" smtClean="0"/>
              <a:t>4/12/2021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278F5-C869-488A-B179-1748EC3E3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EF440-FD60-4C8C-B2F1-27C7C67A36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DB9CE-4511-4EA6-B4F7-B285886FC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4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dc.gov/" TargetMode="External"/><Relationship Id="rId4" Type="http://schemas.openxmlformats.org/officeDocument/2006/relationships/hyperlink" Target="https://ourworldindata.org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ourworldindata.org/smoking" TargetMode="External"/><Relationship Id="rId3" Type="http://schemas.openxmlformats.org/officeDocument/2006/relationships/hyperlink" Target="https://www.statista.com/statistics/379046/worldwide-retail-e-commerce-sales/" TargetMode="External"/><Relationship Id="rId7" Type="http://schemas.openxmlformats.org/officeDocument/2006/relationships/hyperlink" Target="https://data.bris.ac.uk/data/dataset/299889i8ysm0d21dt3rz63nipg" TargetMode="External"/><Relationship Id="rId2" Type="http://schemas.openxmlformats.org/officeDocument/2006/relationships/hyperlink" Target="https://venngage.com/blog/business-proposa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verse.scholarsportal.info/dataverse/ICCD;jsessionid=aec8e6b2ce18dce012b8c8cb1acd?q=&amp;types=datasets%3Afiles&amp;sort=nameSort&amp;order=desc&amp;page=1" TargetMode="External"/><Relationship Id="rId5" Type="http://schemas.openxmlformats.org/officeDocument/2006/relationships/hyperlink" Target="https://data.chhs.ca.gov/dataset/high-school-electronic-smoking-device-and-tobacco-use-prevalence" TargetMode="External"/><Relationship Id="rId4" Type="http://schemas.openxmlformats.org/officeDocument/2006/relationships/hyperlink" Target="https://www.cdc.gov/tobacco/data_statistics/index.htm" TargetMode="External"/><Relationship Id="rId9" Type="http://schemas.openxmlformats.org/officeDocument/2006/relationships/hyperlink" Target="https://youtu.be/R1KOtjq4ZR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Triangle 7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4A94D-900C-4CA7-8F5E-CF3AC154F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500" dirty="0"/>
              <a:t>COMP 3024</a:t>
            </a:r>
            <a:br>
              <a:rPr lang="en-US" sz="5500" dirty="0"/>
            </a:br>
            <a:r>
              <a:rPr lang="en-US" sz="5500" dirty="0"/>
              <a:t>Business Intelligence &amp; Analysis</a:t>
            </a:r>
            <a:br>
              <a:rPr lang="en-US" sz="5500" dirty="0"/>
            </a:br>
            <a:endParaRPr lang="en-US" sz="55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5E4A04-AF92-4A3A-B1F3-CDC700AAB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/>
              <a:t>Final Assignment</a:t>
            </a:r>
          </a:p>
          <a:p>
            <a:pPr algn="l"/>
            <a:r>
              <a:rPr lang="en-US"/>
              <a:t> Mark Song</a:t>
            </a:r>
          </a:p>
        </p:txBody>
      </p:sp>
    </p:spTree>
    <p:extLst>
      <p:ext uri="{BB962C8B-B14F-4D97-AF65-F5344CB8AC3E}">
        <p14:creationId xmlns:p14="http://schemas.microsoft.com/office/powerpoint/2010/main" val="228625287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3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33" descr="Gulungan cetak biru">
            <a:extLst>
              <a:ext uri="{FF2B5EF4-FFF2-40B4-BE49-F238E27FC236}">
                <a16:creationId xmlns:a16="http://schemas.microsoft.com/office/drawing/2014/main" id="{097D2450-E34D-4296-8B63-A32AD649A1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28" r="-1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8" name="Rectangle 3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78E23-47DA-4F2F-ABA5-BD34F552E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Business Proposal </a:t>
            </a: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647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603F55D3-EBA7-4696-977C-F25C21B651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0786" b="494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65B55F-B4E2-47CF-8133-CA32BCF4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Table of Content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05C136A9-DE06-42CD-AEBD-8C89B2339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4927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2248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8DAAB828-02C8-4111-AC14-FF5ACEDDF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0"/>
            <a:ext cx="8797955" cy="6858000"/>
          </a:xfrm>
          <a:custGeom>
            <a:avLst/>
            <a:gdLst>
              <a:gd name="connsiteX0" fmla="*/ 1951386 w 8751613"/>
              <a:gd name="connsiteY0" fmla="*/ 0 h 6858000"/>
              <a:gd name="connsiteX1" fmla="*/ 6808636 w 8751613"/>
              <a:gd name="connsiteY1" fmla="*/ 0 h 6858000"/>
              <a:gd name="connsiteX2" fmla="*/ 6972292 w 8751613"/>
              <a:gd name="connsiteY2" fmla="*/ 272824 h 6858000"/>
              <a:gd name="connsiteX3" fmla="*/ 8684358 w 8751613"/>
              <a:gd name="connsiteY3" fmla="*/ 3126935 h 6858000"/>
              <a:gd name="connsiteX4" fmla="*/ 8684358 w 8751613"/>
              <a:gd name="connsiteY4" fmla="*/ 3731065 h 6858000"/>
              <a:gd name="connsiteX5" fmla="*/ 6813619 w 8751613"/>
              <a:gd name="connsiteY5" fmla="*/ 6849692 h 6858000"/>
              <a:gd name="connsiteX6" fmla="*/ 6808636 w 8751613"/>
              <a:gd name="connsiteY6" fmla="*/ 6858000 h 6858000"/>
              <a:gd name="connsiteX7" fmla="*/ 1951386 w 8751613"/>
              <a:gd name="connsiteY7" fmla="*/ 6858000 h 6858000"/>
              <a:gd name="connsiteX8" fmla="*/ 1787729 w 8751613"/>
              <a:gd name="connsiteY8" fmla="*/ 6585176 h 6858000"/>
              <a:gd name="connsiteX9" fmla="*/ 75663 w 8751613"/>
              <a:gd name="connsiteY9" fmla="*/ 3731065 h 6858000"/>
              <a:gd name="connsiteX10" fmla="*/ 75663 w 8751613"/>
              <a:gd name="connsiteY10" fmla="*/ 3126935 h 6858000"/>
              <a:gd name="connsiteX11" fmla="*/ 1946402 w 8751613"/>
              <a:gd name="connsiteY11" fmla="*/ 83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51613" h="6858000">
                <a:moveTo>
                  <a:pt x="1951386" y="0"/>
                </a:moveTo>
                <a:lnTo>
                  <a:pt x="6808636" y="0"/>
                </a:lnTo>
                <a:lnTo>
                  <a:pt x="6972292" y="272824"/>
                </a:lnTo>
                <a:cubicBezTo>
                  <a:pt x="8684358" y="3126935"/>
                  <a:pt x="8684358" y="3126935"/>
                  <a:pt x="8684358" y="3126935"/>
                </a:cubicBezTo>
                <a:cubicBezTo>
                  <a:pt x="8774032" y="3299544"/>
                  <a:pt x="8774032" y="3558457"/>
                  <a:pt x="8684358" y="3731065"/>
                </a:cubicBezTo>
                <a:cubicBezTo>
                  <a:pt x="7154297" y="6281764"/>
                  <a:pt x="6867411" y="6760019"/>
                  <a:pt x="6813619" y="6849692"/>
                </a:cubicBezTo>
                <a:lnTo>
                  <a:pt x="6808636" y="6858000"/>
                </a:lnTo>
                <a:lnTo>
                  <a:pt x="1951386" y="6858000"/>
                </a:lnTo>
                <a:lnTo>
                  <a:pt x="1787729" y="6585176"/>
                </a:lnTo>
                <a:cubicBezTo>
                  <a:pt x="75663" y="3731065"/>
                  <a:pt x="75663" y="3731065"/>
                  <a:pt x="75663" y="3731065"/>
                </a:cubicBezTo>
                <a:cubicBezTo>
                  <a:pt x="-25220" y="3558457"/>
                  <a:pt x="-25220" y="3299544"/>
                  <a:pt x="75663" y="3126935"/>
                </a:cubicBezTo>
                <a:cubicBezTo>
                  <a:pt x="1605724" y="576237"/>
                  <a:pt x="1892611" y="97981"/>
                  <a:pt x="1946402" y="830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31E09C-2A1A-4FBA-9084-0DA89506C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481" y="1729154"/>
            <a:ext cx="5498268" cy="3399692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C32D4553-E775-4F16-9A6F-FED8D166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60561" y="1075188"/>
            <a:ext cx="1562267" cy="1172973"/>
            <a:chOff x="9160561" y="1000124"/>
            <a:chExt cx="1562267" cy="1172973"/>
          </a:xfrm>
        </p:grpSpPr>
        <p:sp>
          <p:nvSpPr>
            <p:cNvPr id="86" name="Freeform 5">
              <a:extLst>
                <a:ext uri="{FF2B5EF4-FFF2-40B4-BE49-F238E27FC236}">
                  <a16:creationId xmlns:a16="http://schemas.microsoft.com/office/drawing/2014/main" id="{50F864A1-23CF-4954-887F-3C4458622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5">
              <a:extLst>
                <a:ext uri="{FF2B5EF4-FFF2-40B4-BE49-F238E27FC236}">
                  <a16:creationId xmlns:a16="http://schemas.microsoft.com/office/drawing/2014/main" id="{8D313E8C-7457-407E-BDA5-EACA44D38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279399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28D1E49-2A21-4A83-A0E0-FB1597B4B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88B852E-5494-418B-A833-75CF016A9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DF31E3C1-1A46-4329-9F80-B576692FEE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294B4592-99CA-47B1-816F-CE2D44F65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BF690E4C-72F8-4AC5-AF99-562763CC67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F834CDD4-CAB8-4ACC-9AAC-5399C743DE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1AEB045A-6821-475B-A28E-047437ABE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D9B790C0-3D34-4626-BAFB-6EB473F40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EDA4D87F-91A4-4628-9A6E-F01820A7E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045DAB88-124C-459C-A889-DAE9C9BE2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85D44010-1DAA-4CAC-B83F-7E3E8C455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E8C01D66-5C93-4A2E-AA74-DE97574EA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E2E1A6E1-6C4A-47D3-81E2-9F8624F1B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3E849CB5-4526-49DC-B77B-A20FDB7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5A18C8A4-FB2A-44C1-93D3-26C6DDFE0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85D014FD-8C5A-4071-B19E-4910AAB618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A37D7262-3596-4026-9AD4-E94332E52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187E37E0-AAC3-4B33-AF36-334ACCBD33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1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409758BB-8A0E-4BEB-BC0C-F410AD98C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97C4EFE2-9D25-4978-BD9A-873B492702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9CCAF82A-A0E0-4B55-A97B-EFFAE79AF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4F800DD8-3954-4F73-8807-16F1CFAC1E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84E1C91A-4B06-4852-918C-6380FA98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1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030" y="2250281"/>
            <a:ext cx="4959318" cy="3678237"/>
          </a:xfrm>
          <a:prstGeom prst="rect">
            <a:avLst/>
          </a:prstGeom>
          <a:solidFill>
            <a:schemeClr val="bg1"/>
          </a:solidFill>
          <a:ln w="19050">
            <a:solidFill>
              <a:srgbClr val="ED9B18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E1CBFE-1778-47C7-9B52-342DC960D5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2997" b="-1"/>
          <a:stretch/>
        </p:blipFill>
        <p:spPr>
          <a:xfrm>
            <a:off x="1103257" y="2416047"/>
            <a:ext cx="4626864" cy="3346704"/>
          </a:xfrm>
          <a:prstGeom prst="rect">
            <a:avLst/>
          </a:prstGeom>
          <a:ln w="12700"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0FA82-0929-4B70-BACB-44EDB26C9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0703" y="2228850"/>
            <a:ext cx="5028928" cy="3699669"/>
          </a:xfrm>
        </p:spPr>
        <p:txBody>
          <a:bodyPr anchor="ctr">
            <a:normAutofit/>
          </a:bodyPr>
          <a:lstStyle/>
          <a:p>
            <a:pPr>
              <a:buClr>
                <a:srgbClr val="ED9B18"/>
              </a:buClr>
            </a:pPr>
            <a:r>
              <a:rPr lang="en-US" sz="1800"/>
              <a:t>Stress relief </a:t>
            </a:r>
          </a:p>
          <a:p>
            <a:pPr>
              <a:buClr>
                <a:srgbClr val="ED9B18"/>
              </a:buClr>
            </a:pPr>
            <a:r>
              <a:rPr lang="en-US" sz="1800"/>
              <a:t>Pleasure</a:t>
            </a:r>
          </a:p>
          <a:p>
            <a:pPr>
              <a:buClr>
                <a:srgbClr val="ED9B18"/>
              </a:buClr>
            </a:pPr>
            <a:r>
              <a:rPr lang="en-US" sz="1800"/>
              <a:t>Peer pressure </a:t>
            </a:r>
          </a:p>
          <a:p>
            <a:pPr>
              <a:buClr>
                <a:srgbClr val="ED9B18"/>
              </a:buClr>
            </a:pPr>
            <a:r>
              <a:rPr lang="en-US" sz="1800"/>
              <a:t>Addiction </a:t>
            </a:r>
          </a:p>
          <a:p>
            <a:pPr>
              <a:buClr>
                <a:srgbClr val="ED9B18"/>
              </a:buClr>
            </a:pPr>
            <a:r>
              <a:rPr lang="en-US" sz="1800"/>
              <a:t>Relaxing </a:t>
            </a:r>
          </a:p>
          <a:p>
            <a:pPr>
              <a:buClr>
                <a:srgbClr val="ED9B18"/>
              </a:buClr>
            </a:pPr>
            <a:r>
              <a:rPr lang="en-US" sz="1800"/>
              <a:t>Stay focused</a:t>
            </a:r>
          </a:p>
          <a:p>
            <a:pPr>
              <a:buClr>
                <a:srgbClr val="ED9B18"/>
              </a:buClr>
            </a:pPr>
            <a:r>
              <a:rPr lang="en-US" sz="1800"/>
              <a:t>Afraid to quit </a:t>
            </a:r>
          </a:p>
          <a:p>
            <a:pPr>
              <a:buClr>
                <a:srgbClr val="ED9B18"/>
              </a:buClr>
            </a:pPr>
            <a:endParaRPr lang="en-US" sz="1800"/>
          </a:p>
          <a:p>
            <a:pPr marL="0" indent="0">
              <a:buClr>
                <a:srgbClr val="ED9B18"/>
              </a:buClr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668583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15">
            <a:extLst>
              <a:ext uri="{FF2B5EF4-FFF2-40B4-BE49-F238E27FC236}">
                <a16:creationId xmlns:a16="http://schemas.microsoft.com/office/drawing/2014/main" id="{48CAE4AE-A9DF-45AF-9A9C-1712BC634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17">
            <a:extLst>
              <a:ext uri="{FF2B5EF4-FFF2-40B4-BE49-F238E27FC236}">
                <a16:creationId xmlns:a16="http://schemas.microsoft.com/office/drawing/2014/main" id="{6C272060-BC98-4C91-A58F-4DFEC566C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8BA2DCB9-0DC0-4109-B2A2-56896E35E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64A33555-1142-4AD7-8084-1A99422A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BC6E4081-1A88-453E-8CCF-B97B0CE20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B7E0935-6EE8-4C61-AED5-09B9A2A99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EB962BD6-C878-48FF-A75E-DCC7BDA3C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CABF3786-BDE1-4FE5-9967-F6B6131A2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4969707A-C75E-4F7F-A5C2-2991C654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0E293989-8389-48CD-85D3-CAEFD5E96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8DCF1E8B-9247-45E2-8641-90DA9F7D5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48DF418F-91AD-4E55-AF3B-F28FF4596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EDBF35BD-D1DA-49B1-AE30-289189DAC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9198BEC-A3B6-4562-AB0F-3E776002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9AB30D45-77AB-4323-83A2-1A637D07D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D1AD137E-7B63-434C-9D0D-5A64BB496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8B32BE2D-36DC-4BD0-952E-8FE32A70D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930295E0-AD01-4DB0-9829-AD91BED60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29807E74-6BFD-4EA7-B3F3-92C0728A7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C9EDBF49-4B87-4B6F-BEE6-DDC4A63CE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7738C468-1405-4ED9-8392-F93FA995E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F16402CF-F511-450A-8584-8C8A5B7E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85E5B49A-CFC2-4019-9BA6-528095F78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rgbClr val="A16C5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505B8A-02D0-49FD-BA9B-D0B35C06F3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127" b="1"/>
          <a:stretch/>
        </p:blipFill>
        <p:spPr>
          <a:xfrm>
            <a:off x="972115" y="960214"/>
            <a:ext cx="5641848" cy="4919472"/>
          </a:xfrm>
          <a:prstGeom prst="rect">
            <a:avLst/>
          </a:prstGeom>
          <a:ln w="12700"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41FE5-8CFA-4D8C-96A2-1A4F1DE80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817" y="2338388"/>
            <a:ext cx="4099607" cy="3678237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A16C5F"/>
              </a:buClr>
              <a:buNone/>
            </a:pPr>
            <a:r>
              <a:rPr lang="en-US" sz="1800"/>
              <a:t>Effects of Smoking and long-term smoker</a:t>
            </a:r>
          </a:p>
          <a:p>
            <a:pPr>
              <a:buClr>
                <a:srgbClr val="A16C5F"/>
              </a:buClr>
              <a:buFontTx/>
              <a:buChar char="-"/>
            </a:pPr>
            <a:r>
              <a:rPr lang="en-US" sz="1800"/>
              <a:t>Tobacco odor and smell</a:t>
            </a:r>
          </a:p>
          <a:p>
            <a:pPr>
              <a:buClr>
                <a:srgbClr val="A16C5F"/>
              </a:buClr>
              <a:buFontTx/>
              <a:buChar char="-"/>
            </a:pPr>
            <a:r>
              <a:rPr lang="en-US" sz="1800"/>
              <a:t>Yellow teeth and gums </a:t>
            </a:r>
          </a:p>
          <a:p>
            <a:pPr>
              <a:buClr>
                <a:srgbClr val="A16C5F"/>
              </a:buClr>
              <a:buFontTx/>
              <a:buChar char="-"/>
            </a:pPr>
            <a:r>
              <a:rPr lang="en-US" sz="1800"/>
              <a:t>Vision problems</a:t>
            </a:r>
          </a:p>
          <a:p>
            <a:pPr>
              <a:buClr>
                <a:srgbClr val="A16C5F"/>
              </a:buClr>
              <a:buFontTx/>
              <a:buChar char="-"/>
            </a:pPr>
            <a:r>
              <a:rPr lang="en-US" sz="1800"/>
              <a:t>Risks of cancers especially in lungs and throat </a:t>
            </a:r>
          </a:p>
          <a:p>
            <a:pPr>
              <a:buClr>
                <a:srgbClr val="A16C5F"/>
              </a:buClr>
              <a:buFontTx/>
              <a:buChar char="-"/>
            </a:pPr>
            <a:r>
              <a:rPr lang="en-US" sz="1800"/>
              <a:t>Heart diseases and failure </a:t>
            </a:r>
          </a:p>
          <a:p>
            <a:pPr>
              <a:buClr>
                <a:srgbClr val="A16C5F"/>
              </a:buClr>
              <a:buFontTx/>
              <a:buChar char="-"/>
            </a:pPr>
            <a:r>
              <a:rPr lang="en-US" sz="1800"/>
              <a:t>Lack of taste</a:t>
            </a:r>
          </a:p>
          <a:p>
            <a:pPr>
              <a:buClr>
                <a:srgbClr val="A16C5F"/>
              </a:buClr>
              <a:buFontTx/>
              <a:buChar char="-"/>
            </a:pPr>
            <a:r>
              <a:rPr lang="en-US" sz="1800"/>
              <a:t>Blood clots</a:t>
            </a:r>
          </a:p>
          <a:p>
            <a:pPr>
              <a:buClr>
                <a:srgbClr val="A16C5F"/>
              </a:buClr>
              <a:buFontTx/>
              <a:buChar char="-"/>
            </a:pPr>
            <a:r>
              <a:rPr lang="en-US" sz="1800"/>
              <a:t>Decreased life expectancy</a:t>
            </a:r>
          </a:p>
          <a:p>
            <a:pPr>
              <a:buClr>
                <a:srgbClr val="A16C5F"/>
              </a:buClr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6340390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85AA469-E7FC-4C5A-B72C-5F24BFC4B68F}"/>
              </a:ext>
            </a:extLst>
          </p:cNvPr>
          <p:cNvSpPr txBox="1"/>
          <p:nvPr/>
        </p:nvSpPr>
        <p:spPr>
          <a:xfrm>
            <a:off x="4965431" y="2438400"/>
            <a:ext cx="658648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Protects others from second-hand smoking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Decreases the risks of health issues, like cancer rate and diseases rate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Better breathing and lung functionality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Feeling better after fully quitting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Improved sense of taste and smell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Saves money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 descr="Timeline&#10;&#10;Description automatically generated">
            <a:extLst>
              <a:ext uri="{FF2B5EF4-FFF2-40B4-BE49-F238E27FC236}">
                <a16:creationId xmlns:a16="http://schemas.microsoft.com/office/drawing/2014/main" id="{44C4DAE0-3713-4510-9D58-0073D687FC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68" r="7332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DA9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91124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919AE-B384-4D4A-9837-F629B1CF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732268-A5D5-49E1-87D9-DCC9D35B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294" y="486184"/>
            <a:ext cx="5397237" cy="1325563"/>
          </a:xfrm>
        </p:spPr>
        <p:txBody>
          <a:bodyPr>
            <a:normAutofit/>
          </a:bodyPr>
          <a:lstStyle/>
          <a:p>
            <a:r>
              <a:rPr lang="en-US" dirty="0"/>
              <a:t>Main Data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8049" y="1533388"/>
            <a:ext cx="754056" cy="73360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C9A8ED-D74F-43CC-87EC-49FE2404F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845" y="579155"/>
            <a:ext cx="2234231" cy="2642068"/>
          </a:xfrm>
          <a:custGeom>
            <a:avLst/>
            <a:gdLst/>
            <a:ahLst/>
            <a:cxnLst/>
            <a:rect l="l" t="t" r="r" b="b"/>
            <a:pathLst>
              <a:path w="4252881" h="4252881">
                <a:moveTo>
                  <a:pt x="95137" y="0"/>
                </a:moveTo>
                <a:lnTo>
                  <a:pt x="4157744" y="0"/>
                </a:lnTo>
                <a:cubicBezTo>
                  <a:pt x="4210287" y="0"/>
                  <a:pt x="4252881" y="42594"/>
                  <a:pt x="4252881" y="95137"/>
                </a:cubicBezTo>
                <a:lnTo>
                  <a:pt x="4252881" y="4157744"/>
                </a:lnTo>
                <a:cubicBezTo>
                  <a:pt x="4252881" y="4210287"/>
                  <a:pt x="4210287" y="4252881"/>
                  <a:pt x="4157744" y="4252881"/>
                </a:cubicBezTo>
                <a:lnTo>
                  <a:pt x="95137" y="4252881"/>
                </a:lnTo>
                <a:cubicBezTo>
                  <a:pt x="42594" y="4252881"/>
                  <a:pt x="0" y="4210287"/>
                  <a:pt x="0" y="4157744"/>
                </a:cubicBezTo>
                <a:lnTo>
                  <a:pt x="0" y="95137"/>
                </a:lnTo>
                <a:cubicBezTo>
                  <a:pt x="0" y="42594"/>
                  <a:pt x="42594" y="0"/>
                  <a:pt x="95137" y="0"/>
                </a:cubicBezTo>
                <a:close/>
              </a:path>
            </a:pathLst>
          </a:cu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107D50C9-F568-423A-A839-B49874AAE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86024" y="4442435"/>
            <a:ext cx="624734" cy="62473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D2A291-7FF5-4477-8DDA-0CA16A131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796" y="3494736"/>
            <a:ext cx="3637009" cy="2520131"/>
          </a:xfrm>
          <a:custGeom>
            <a:avLst/>
            <a:gdLst/>
            <a:ahLst/>
            <a:cxnLst/>
            <a:rect l="l" t="t" r="r" b="b"/>
            <a:pathLst>
              <a:path w="4252881" h="4252881">
                <a:moveTo>
                  <a:pt x="95137" y="0"/>
                </a:moveTo>
                <a:lnTo>
                  <a:pt x="4157744" y="0"/>
                </a:lnTo>
                <a:cubicBezTo>
                  <a:pt x="4210287" y="0"/>
                  <a:pt x="4252881" y="42594"/>
                  <a:pt x="4252881" y="95137"/>
                </a:cubicBezTo>
                <a:lnTo>
                  <a:pt x="4252881" y="4157744"/>
                </a:lnTo>
                <a:cubicBezTo>
                  <a:pt x="4252881" y="4210287"/>
                  <a:pt x="4210287" y="4252881"/>
                  <a:pt x="4157744" y="4252881"/>
                </a:cubicBezTo>
                <a:lnTo>
                  <a:pt x="95137" y="4252881"/>
                </a:lnTo>
                <a:cubicBezTo>
                  <a:pt x="42594" y="4252881"/>
                  <a:pt x="0" y="4210287"/>
                  <a:pt x="0" y="4157744"/>
                </a:cubicBezTo>
                <a:lnTo>
                  <a:pt x="0" y="95137"/>
                </a:lnTo>
                <a:cubicBezTo>
                  <a:pt x="0" y="42594"/>
                  <a:pt x="42594" y="0"/>
                  <a:pt x="95137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29D12-327D-4886-9F89-FED919E1B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1294" y="1946684"/>
            <a:ext cx="5397237" cy="4351338"/>
          </a:xfrm>
        </p:spPr>
        <p:txBody>
          <a:bodyPr>
            <a:normAutofit/>
          </a:bodyPr>
          <a:lstStyle/>
          <a:p>
            <a:r>
              <a:rPr lang="en-US" dirty="0">
                <a:hlinkClick r:id="rId4"/>
              </a:rPr>
              <a:t>https://ourworldindata.org/</a:t>
            </a:r>
            <a:endParaRPr lang="en-US" dirty="0"/>
          </a:p>
          <a:p>
            <a:r>
              <a:rPr lang="en-US" dirty="0">
                <a:hlinkClick r:id="rId5"/>
              </a:rPr>
              <a:t>https://www.cdc.gov/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75710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F6364A-B358-4BEE-B158-0734D2C93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8202" y="1570814"/>
            <a:ext cx="0" cy="3710227"/>
          </a:xfrm>
          <a:prstGeom prst="line">
            <a:avLst/>
          </a:prstGeom>
          <a:ln w="19050">
            <a:solidFill>
              <a:srgbClr val="00A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C2FD649-ABF0-4EA2-99B3-CD961C719E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58" r="1" b="1"/>
          <a:stretch/>
        </p:blipFill>
        <p:spPr>
          <a:xfrm>
            <a:off x="4061860" y="1839310"/>
            <a:ext cx="7009396" cy="3173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388F1A-88B5-4F63-91CF-CC8256A7A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210" y="5552429"/>
            <a:ext cx="5780952" cy="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98183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901282-FC74-4AF7-AF78-21D365BFC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14" y="52809"/>
            <a:ext cx="11628571" cy="6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702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A70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56693-F303-46E1-8B50-2A61BCC42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844727"/>
            <a:ext cx="10905066" cy="516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7191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7E8B48-56A7-4987-A3B3-754E409CD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95" y="500428"/>
            <a:ext cx="10523809" cy="5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276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D6AAB6-932C-49D5-A120-2279DC921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1" y="481381"/>
            <a:ext cx="10542857" cy="58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8137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F6F0FB-356F-4E71-B21A-7DEF44C01F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58" r="1" b="1"/>
          <a:stretch/>
        </p:blipFill>
        <p:spPr>
          <a:xfrm>
            <a:off x="1120478" y="1839310"/>
            <a:ext cx="7009396" cy="317323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12350F3-DB83-413A-980B-1CEB92498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453265" y="1570814"/>
            <a:ext cx="0" cy="3710227"/>
          </a:xfrm>
          <a:prstGeom prst="line">
            <a:avLst/>
          </a:prstGeom>
          <a:ln w="19050">
            <a:solidFill>
              <a:srgbClr val="00A75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4A7D768-2CAB-46FF-AF43-84AAD2225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866" y="5827057"/>
            <a:ext cx="5809524" cy="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7152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CAE4AE-A9DF-45AF-9A9C-1712BC634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C272060-BC98-4C91-A58F-4DFEC566C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8BA2DCB9-0DC0-4109-B2A2-56896E35E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>
                <a:gd name="T0" fmla="*/ 813 w 813"/>
                <a:gd name="T1" fmla="*/ 0 h 1440"/>
                <a:gd name="T2" fmla="*/ 435 w 81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64A33555-1142-4AD7-8084-1A99422A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>
                <a:gd name="T0" fmla="*/ 324 w 324"/>
                <a:gd name="T1" fmla="*/ 117 h 117"/>
                <a:gd name="T2" fmla="*/ 0 w 324"/>
                <a:gd name="T3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BC6E4081-1A88-453E-8CCF-B97B0CE20D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>
                <a:gd name="T0" fmla="*/ 0 w 404"/>
                <a:gd name="T1" fmla="*/ 385 h 385"/>
                <a:gd name="T2" fmla="*/ 404 w 404"/>
                <a:gd name="T3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5B7E0935-6EE8-4C61-AED5-09B9A2A99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>
                <a:gd name="T0" fmla="*/ 774 w 774"/>
                <a:gd name="T1" fmla="*/ 0 h 1440"/>
                <a:gd name="T2" fmla="*/ 411 w 774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B962BD6-C878-48FF-A75E-DCC7BDA3C3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>
                <a:gd name="T0" fmla="*/ 203 w 203"/>
                <a:gd name="T1" fmla="*/ 77 h 77"/>
                <a:gd name="T2" fmla="*/ 0 w 203"/>
                <a:gd name="T3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ABF3786-BDE1-4FE5-9967-F6B6131A2C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>
                <a:gd name="T0" fmla="*/ 0 w 351"/>
                <a:gd name="T1" fmla="*/ 332 h 332"/>
                <a:gd name="T2" fmla="*/ 351 w 351"/>
                <a:gd name="T3" fmla="*/ 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4969707A-C75E-4F7F-A5C2-2991C6547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>
                <a:gd name="T0" fmla="*/ 762 w 762"/>
                <a:gd name="T1" fmla="*/ 0 h 1440"/>
                <a:gd name="T2" fmla="*/ 403 w 76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0E293989-8389-48CD-85D3-CAEFD5E963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>
                <a:gd name="T0" fmla="*/ 140 w 140"/>
                <a:gd name="T1" fmla="*/ 54 h 54"/>
                <a:gd name="T2" fmla="*/ 0 w 140"/>
                <a:gd name="T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8DCF1E8B-9247-45E2-8641-90DA9F7D5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>
                <a:gd name="T0" fmla="*/ 0 w 321"/>
                <a:gd name="T1" fmla="*/ 302 h 302"/>
                <a:gd name="T2" fmla="*/ 321 w 321"/>
                <a:gd name="T3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48DF418F-91AD-4E55-AF3B-F28FF45961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>
                <a:gd name="T0" fmla="*/ 683 w 683"/>
                <a:gd name="T1" fmla="*/ 0 h 1440"/>
                <a:gd name="T2" fmla="*/ 355 w 683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EDBF35BD-D1DA-49B1-AE30-289189DAC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>
                <a:gd name="T0" fmla="*/ 0 w 287"/>
                <a:gd name="T1" fmla="*/ 279 h 279"/>
                <a:gd name="T2" fmla="*/ 287 w 287"/>
                <a:gd name="T3" fmla="*/ 0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69198BEC-A3B6-4562-AB0F-3E7760026C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>
                <a:gd name="T0" fmla="*/ 680 w 680"/>
                <a:gd name="T1" fmla="*/ 0 h 1440"/>
                <a:gd name="T2" fmla="*/ 337 w 68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9AB30D45-77AB-4323-83A2-1A637D07D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>
                <a:gd name="T0" fmla="*/ 0 w 250"/>
                <a:gd name="T1" fmla="*/ 242 h 242"/>
                <a:gd name="T2" fmla="*/ 250 w 250"/>
                <a:gd name="T3" fmla="*/ 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D1AD137E-7B63-434C-9D0D-5A64BB496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>
                <a:gd name="T0" fmla="*/ 720 w 720"/>
                <a:gd name="T1" fmla="*/ 0 h 1440"/>
                <a:gd name="T2" fmla="*/ 362 w 7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8B32BE2D-36DC-4BD0-952E-8FE32A70D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>
                <a:gd name="T0" fmla="*/ 0 w 185"/>
                <a:gd name="T1" fmla="*/ 167 h 167"/>
                <a:gd name="T2" fmla="*/ 185 w 185"/>
                <a:gd name="T3" fmla="*/ 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930295E0-AD01-4DB0-9829-AD91BED608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>
                <a:gd name="T0" fmla="*/ 572 w 572"/>
                <a:gd name="T1" fmla="*/ 0 h 1440"/>
                <a:gd name="T2" fmla="*/ 164 w 572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29807E74-6BFD-4EA7-B3F3-92C0728A7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>
                <a:gd name="T0" fmla="*/ 620 w 620"/>
                <a:gd name="T1" fmla="*/ 0 h 1440"/>
                <a:gd name="T2" fmla="*/ 186 w 620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C9EDBF49-4B87-4B6F-BEE6-DDC4A63CE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>
                <a:gd name="T0" fmla="*/ 506 w 506"/>
                <a:gd name="T1" fmla="*/ 0 h 1440"/>
                <a:gd name="T2" fmla="*/ 171 w 506"/>
                <a:gd name="T3" fmla="*/ 144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7738C468-1405-4ED9-8392-F93FA995E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>
                <a:gd name="T0" fmla="*/ 373 w 373"/>
                <a:gd name="T1" fmla="*/ 0 h 673"/>
                <a:gd name="T2" fmla="*/ 0 w 373"/>
                <a:gd name="T3" fmla="*/ 673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F16402CF-F511-450A-8584-8C8A5B7E9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>
                <a:gd name="T0" fmla="*/ 0 w 45"/>
                <a:gd name="T1" fmla="*/ 0 h 174"/>
                <a:gd name="T2" fmla="*/ 45 w 45"/>
                <a:gd name="T3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85E5B49A-CFC2-4019-9BA6-528095F78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>
                <a:gd name="T0" fmla="*/ 329 w 329"/>
                <a:gd name="T1" fmla="*/ 0 h 469"/>
                <a:gd name="T2" fmla="*/ 0 w 329"/>
                <a:gd name="T3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972DE0D-2E53-4159-ABD3-C60152426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7720" y="795527"/>
            <a:ext cx="5970638" cy="5248847"/>
          </a:xfrm>
          <a:prstGeom prst="rect">
            <a:avLst/>
          </a:prstGeom>
          <a:solidFill>
            <a:schemeClr val="bg1"/>
          </a:solidFill>
          <a:ln w="19050">
            <a:solidFill>
              <a:srgbClr val="F16F27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29A53-0EBF-4510-98F2-59E50ED4CA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86"/>
          <a:stretch/>
        </p:blipFill>
        <p:spPr>
          <a:xfrm>
            <a:off x="972115" y="960214"/>
            <a:ext cx="5641848" cy="4919472"/>
          </a:xfrm>
          <a:prstGeom prst="rect">
            <a:avLst/>
          </a:prstGeom>
          <a:ln w="12700"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67C4B-CBC3-41DF-BEB1-ED8C67357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817" y="2338388"/>
            <a:ext cx="4099607" cy="3678237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F16F27"/>
              </a:buClr>
              <a:buNone/>
            </a:pPr>
            <a:r>
              <a:rPr lang="en-US" sz="6600" dirty="0" err="1"/>
              <a:t>Jupyter</a:t>
            </a:r>
            <a:r>
              <a:rPr lang="en-US" sz="6600" dirty="0"/>
              <a:t> Notebook </a:t>
            </a:r>
          </a:p>
        </p:txBody>
      </p:sp>
    </p:spTree>
    <p:extLst>
      <p:ext uri="{BB962C8B-B14F-4D97-AF65-F5344CB8AC3E}">
        <p14:creationId xmlns:p14="http://schemas.microsoft.com/office/powerpoint/2010/main" val="172050505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7FDDFE-1A55-4C34-861B-944A49A85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743627"/>
            <a:ext cx="10905066" cy="537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51784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F6F0FB-356F-4E71-B21A-7DEF44C01F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58" r="1" b="1"/>
          <a:stretch/>
        </p:blipFill>
        <p:spPr>
          <a:xfrm>
            <a:off x="1120478" y="1839310"/>
            <a:ext cx="7009396" cy="31732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3472D2D-7406-446C-A44F-0A226835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178" y="5891233"/>
            <a:ext cx="5809524" cy="3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46148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135C53-E906-48C3-BB15-9F93627DE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714" y="2343154"/>
            <a:ext cx="6386286" cy="45148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338FCE-8587-4A5E-9D39-29D918292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4171" y="2457853"/>
            <a:ext cx="6189246" cy="43096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33FE22-D4BB-4349-AE08-5DE72E711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522" y="1059386"/>
            <a:ext cx="7235105" cy="118785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CE09569-6753-4F65-94EB-4B478E05C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004" y="-1412209"/>
            <a:ext cx="12332911" cy="3678237"/>
          </a:xfrm>
        </p:spPr>
        <p:txBody>
          <a:bodyPr anchor="ctr">
            <a:normAutofit/>
          </a:bodyPr>
          <a:lstStyle/>
          <a:p>
            <a:pPr marL="0" indent="0">
              <a:buClr>
                <a:srgbClr val="F16F27"/>
              </a:buClr>
              <a:buNone/>
            </a:pPr>
            <a:r>
              <a:rPr lang="en-US" sz="4000" dirty="0"/>
              <a:t>California Secondary School Survey [2015 – 2016]</a:t>
            </a:r>
          </a:p>
        </p:txBody>
      </p:sp>
    </p:spTree>
    <p:extLst>
      <p:ext uri="{BB962C8B-B14F-4D97-AF65-F5344CB8AC3E}">
        <p14:creationId xmlns:p14="http://schemas.microsoft.com/office/powerpoint/2010/main" val="197049891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58E7C6-06F7-473B-A880-06A28B75A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34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770972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E2EF7A-806A-423A-9B39-D2E83AC54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Our Solution….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40AFAE-72AA-4BB8-9A62-D2612089A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67546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875399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509F26-B5DC-4BA7-B476-4CB044237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103EB1-B135-4526-B883-33228FC27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80000">
            <a:off x="815340" y="683404"/>
            <a:ext cx="10561320" cy="5404104"/>
          </a:xfrm>
          <a:prstGeom prst="rect">
            <a:avLst/>
          </a:prstGeom>
          <a:solidFill>
            <a:srgbClr val="FFFFFF"/>
          </a:solidFill>
          <a:ln w="3175" cap="sq" cmpd="thinThick">
            <a:solidFill>
              <a:srgbClr val="DDDDDD"/>
            </a:solidFill>
            <a:miter lim="800000"/>
          </a:ln>
          <a:effectLst>
            <a:outerShdw blurRad="266700" dist="1143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mpact" panose="020B080603090205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411ED-0364-48A7-AE78-115694599E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78"/>
          <a:stretch/>
        </p:blipFill>
        <p:spPr>
          <a:xfrm rot="21480000">
            <a:off x="1137837" y="1003258"/>
            <a:ext cx="9916327" cy="476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9205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5">
            <a:extLst>
              <a:ext uri="{FF2B5EF4-FFF2-40B4-BE49-F238E27FC236}">
                <a16:creationId xmlns:a16="http://schemas.microsoft.com/office/drawing/2014/main" id="{C96C8BAF-68F3-4B78-B238-35DF5D865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17">
            <a:extLst>
              <a:ext uri="{FF2B5EF4-FFF2-40B4-BE49-F238E27FC236}">
                <a16:creationId xmlns:a16="http://schemas.microsoft.com/office/drawing/2014/main" id="{4F4CD6D0-5A87-4BA2-A13A-0E40511C3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4774" y="699565"/>
            <a:ext cx="3553132" cy="5156200"/>
            <a:chOff x="7807230" y="2012810"/>
            <a:chExt cx="3251252" cy="345986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877EAC0-2063-444D-8EE9-72FED2E03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C155BF8-661A-4F4A-B4EC-923105C69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EF6EDDE-9A7F-40EF-9ED8-0A2035F1A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68" y="873512"/>
            <a:ext cx="3209544" cy="480830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9537076-EF48-4F72-9164-FD8260D55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19434" y="699565"/>
            <a:ext cx="3553132" cy="5156200"/>
            <a:chOff x="7807230" y="2012810"/>
            <a:chExt cx="3251252" cy="345986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9673CB-C48B-4D05-B6E4-B88CD5BAA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6C31A20-B341-476E-8C04-A26C87E14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E8180E12-7A9F-49C5-AE78-C45C021A2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333" y="1780530"/>
            <a:ext cx="3209544" cy="2994269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6EFC3492-86BD-4D75-B5B4-C2DBFE0B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04093" y="699565"/>
            <a:ext cx="3553132" cy="5156200"/>
            <a:chOff x="7807230" y="2012810"/>
            <a:chExt cx="3251252" cy="345986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72E5074-2516-4705-BFF1-F508394A0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2259E4C-F24C-4180-AEC3-76255D535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CDF8F08-957E-4535-AF03-9957F168D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87" y="2328129"/>
            <a:ext cx="3209544" cy="189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10316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558FFB-DDD8-4E22-8450-29053B074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15" y="643467"/>
            <a:ext cx="4211169" cy="254321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1B6081D-D3E8-4209-B85B-EB1C655A6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1214" y="1111170"/>
            <a:ext cx="11040" cy="4645103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2F5AF17-133E-4A18-BF08-4FF9725B9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316" y="750271"/>
            <a:ext cx="4732940" cy="232960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CA55E4-1295-45C8-BA05-5A9E705B7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03027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C5794E-A9A1-4A23-AF68-C79A78223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10334" y="3428998"/>
            <a:ext cx="4188904" cy="1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21855EA-77E8-4967-9940-3FA0822CD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919" y="3671316"/>
            <a:ext cx="3680960" cy="2545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196120-76A2-450D-8BD2-D53A4AB072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051" y="3671316"/>
            <a:ext cx="2553469" cy="255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29347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58048B4-3F65-4EB9-ABA8-099353BE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E2FDE4-8ECB-4D0B-B871-D4EE52606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 up of Barley in the wild">
            <a:extLst>
              <a:ext uri="{FF2B5EF4-FFF2-40B4-BE49-F238E27FC236}">
                <a16:creationId xmlns:a16="http://schemas.microsoft.com/office/drawing/2014/main" id="{DC72D0F7-85BE-4869-91A0-8F3FAD8EC8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10000"/>
          </a:blip>
          <a:srcRect t="15730"/>
          <a:stretch/>
        </p:blipFill>
        <p:spPr>
          <a:xfrm>
            <a:off x="20" y="0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4AAC67-8B50-44B5-8D55-C0FBAD80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568" y="1169982"/>
            <a:ext cx="10530318" cy="27363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2"/>
                </a:solidFill>
              </a:rPr>
              <a:t>So Why Should You Invest in us?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C86DB23-FEFE-4C3A-88FA-8E855AB1E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B22FAF-4B4F-40B1-97FF-67CD036C8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488D89-E3BB-4E60-BF44-5F0BE92E3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8FA7B87-C151-46CF-9E07-DD4FD9717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99EB480-500C-4A3E-BED3-513B88DB01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273244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7905BA41-EE6E-4F80-8636-447F22DD7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CF62E6-8A9B-419E-AB7D-B98D66383E30}"/>
              </a:ext>
            </a:extLst>
          </p:cNvPr>
          <p:cNvSpPr txBox="1">
            <a:spLocks/>
          </p:cNvSpPr>
          <p:nvPr/>
        </p:nvSpPr>
        <p:spPr>
          <a:xfrm>
            <a:off x="1848465" y="3298722"/>
            <a:ext cx="8495070" cy="178440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D7549B2-EE05-4558-8C64-AC46755F2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25914" y="889251"/>
            <a:ext cx="2140172" cy="2140172"/>
          </a:xfrm>
          <a:prstGeom prst="ellipse">
            <a:avLst/>
          </a:prstGeom>
          <a:solidFill>
            <a:srgbClr val="FFFFFF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Graphic 28" descr="Smiling Face with No Fill">
            <a:extLst>
              <a:ext uri="{FF2B5EF4-FFF2-40B4-BE49-F238E27FC236}">
                <a16:creationId xmlns:a16="http://schemas.microsoft.com/office/drawing/2014/main" id="{FBB97EB8-01C4-4A47-B891-929AF7E70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264" y="1371601"/>
            <a:ext cx="1175474" cy="117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70301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9FB0A-5B7B-4494-BBE3-C0BC6596F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04711-EFA9-4627-ABDA-5826B9470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7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hlinkClick r:id="rId2"/>
              </a:rPr>
              <a:t>https://venngage.com/blog/business-proposal/</a:t>
            </a:r>
            <a:endParaRPr lang="en-US" dirty="0"/>
          </a:p>
          <a:p>
            <a:r>
              <a:rPr lang="en-US" dirty="0">
                <a:hlinkClick r:id="rId3"/>
              </a:rPr>
              <a:t>https://www.statista.com/statistics/379046/worldwide-retail-e-commerce-sales/</a:t>
            </a:r>
            <a:endParaRPr lang="en-US" dirty="0"/>
          </a:p>
          <a:p>
            <a:r>
              <a:rPr lang="en-US" dirty="0">
                <a:hlinkClick r:id="rId4"/>
              </a:rPr>
              <a:t>https://www.cdc.gov/tobacco/data_statistics/index.htm</a:t>
            </a:r>
            <a:endParaRPr lang="en-US" dirty="0"/>
          </a:p>
          <a:p>
            <a:r>
              <a:rPr lang="en-US" dirty="0">
                <a:hlinkClick r:id="rId5"/>
              </a:rPr>
              <a:t>https://data.chhs.ca.gov/dataset/high-school-electronic-smoking-device-and-tobacco-use-prevalence</a:t>
            </a:r>
            <a:endParaRPr lang="en-US" dirty="0"/>
          </a:p>
          <a:p>
            <a:r>
              <a:rPr lang="en-US" dirty="0">
                <a:hlinkClick r:id="rId6"/>
              </a:rPr>
              <a:t>https://dataverse.scholarsportal.info/dataverse/ICCD;jsessionid=aec8e6b2ce18dce012b8c8cb1acd?q=&amp;types=datasets%3Afiles&amp;sort=nameSort&amp;order=desc&amp;page=1</a:t>
            </a:r>
            <a:endParaRPr lang="en-US" dirty="0"/>
          </a:p>
          <a:p>
            <a:r>
              <a:rPr lang="en-US" dirty="0">
                <a:hlinkClick r:id="rId7"/>
              </a:rPr>
              <a:t>https://data.bris.ac.uk/data/dataset/299889i8ysm0d21dt3rz63nipg</a:t>
            </a:r>
            <a:endParaRPr lang="en-US" dirty="0"/>
          </a:p>
          <a:p>
            <a:r>
              <a:rPr lang="en-US" dirty="0">
                <a:hlinkClick r:id="rId8"/>
              </a:rPr>
              <a:t>https://ourworldindata.org/smoking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5E9DEB-A3DE-4166-979C-499D44B42FA1}"/>
              </a:ext>
            </a:extLst>
          </p:cNvPr>
          <p:cNvSpPr txBox="1">
            <a:spLocks/>
          </p:cNvSpPr>
          <p:nvPr/>
        </p:nvSpPr>
        <p:spPr>
          <a:xfrm>
            <a:off x="3334476" y="4160112"/>
            <a:ext cx="8000274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9600" dirty="0">
                <a:hlinkClick r:id="rId9"/>
              </a:rPr>
              <a:t>Video Link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54687712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277</Words>
  <Application>Microsoft Office PowerPoint</Application>
  <PresentationFormat>Widescreen</PresentationFormat>
  <Paragraphs>53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Impact</vt:lpstr>
      <vt:lpstr>Office Theme</vt:lpstr>
      <vt:lpstr>COMP 3024 Business Intelligence &amp; Analysis </vt:lpstr>
      <vt:lpstr>Business Proposal </vt:lpstr>
      <vt:lpstr>Table of Content</vt:lpstr>
      <vt:lpstr>PowerPoint Presentation</vt:lpstr>
      <vt:lpstr>PowerPoint Presentation</vt:lpstr>
      <vt:lpstr>PowerPoint Presentation</vt:lpstr>
      <vt:lpstr>PowerPoint Presentation</vt:lpstr>
      <vt:lpstr>Main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Our Solution….</vt:lpstr>
      <vt:lpstr>PowerPoint Presentation</vt:lpstr>
      <vt:lpstr>PowerPoint Presentation</vt:lpstr>
      <vt:lpstr>PowerPoint Presentation</vt:lpstr>
      <vt:lpstr>So Why Should You Invest in us?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Story</dc:title>
  <dc:creator>Mark Song</dc:creator>
  <cp:lastModifiedBy>Mark Song</cp:lastModifiedBy>
  <cp:revision>46</cp:revision>
  <dcterms:created xsi:type="dcterms:W3CDTF">2021-03-01T17:22:00Z</dcterms:created>
  <dcterms:modified xsi:type="dcterms:W3CDTF">2021-04-12T15:44:11Z</dcterms:modified>
</cp:coreProperties>
</file>